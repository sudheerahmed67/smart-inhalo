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9144000" cy="9875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SMART INHALO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ML + DL Breathing Technique Classification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real respiratory signals to Correct / Wrong technique labels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deployable hybrid machine-learning model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Pipeline  ·  Technical Labeling  ·  Model Comparison  ·  Deployment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Problem &amp; Motivation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3898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inhaler technique matters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History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21671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work evolved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Source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2944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PhysioNet respiratory dataset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Dataset Pipeline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3721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signals to cycle features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097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3212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Technical Labels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532120" y="13898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/ Wrong proxy construction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1874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321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Modeling Approach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32120" y="21671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classical ML + deep learning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754880" y="26517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53212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Results &amp; Safeguards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532120" y="29443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leakage controls, deployment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34290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3212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532120" y="37216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inhaler audio &amp; product path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inhaler technique is extremely common and reduces drug delivery.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91440" cy="5486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6276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Poor adherence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84708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patients use inhalers incorrectly without knowing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194560"/>
            <a:ext cx="91440" cy="5486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26771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real-time feedback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48716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cannot watch every dose at home.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834640"/>
            <a:ext cx="91440" cy="5486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90779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Outcome impact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12724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technique leads to less drug in the lungs and worse asthma / COPD control.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474720"/>
            <a:ext cx="91440" cy="5486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5478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Opportunity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376732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+ ML can score technique automatically from breathing signals or audio.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GOAL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breathing cycle as Correct or Wrong technique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real respiratory measurements and a hybrid ML + DL stack.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148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Build dataset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clean cycle-level features from PhysioNet multi-channel signals.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92024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22402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2148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Create labels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0" y="2468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transparent technical Correct / Wrong proxy without clinician labels.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4747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Train models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3703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Logistic Regression, Random Forest, SVM, and MLP under subject split.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15468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34747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5204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Deploy safely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0" y="3703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model + scaler + feature order as one inference bundle.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PROJECT HISTORY — HOW THE WORK EVOLVED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005840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51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9808" y="1371600"/>
            <a:ext cx="54864" cy="164592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Signal exploration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960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PhysioNet subject files; inspected flow, pressure, volume, chest and abdomen belts.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1536192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5819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9808" y="1901952"/>
            <a:ext cx="54864" cy="164592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1490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Cycle extraction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1490472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inspiratory indices to segment continuous recordings into individual breathing cycles.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2066544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1122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9808" y="2432304"/>
            <a:ext cx="54864" cy="164592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20208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49040" y="202082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peak / min / mean / range / std for flow and pressure; tidal volume; belt ranges.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2596896"/>
            <a:ext cx="365760" cy="3657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26426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9808" y="2962656"/>
            <a:ext cx="54864" cy="164592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25511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Quality control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49040" y="2551176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non-physiological cycles (extreme duration, near-zero flow/pressure, dead sensors).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" y="312724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1729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49808" y="3493008"/>
            <a:ext cx="54864" cy="164592"/>
          </a:xfrm>
          <a:prstGeom prst="rect">
            <a:avLst/>
          </a:prstGeom>
          <a:solidFill>
            <a:srgbClr val="E8E4DD"/>
          </a:solidFill>
          <a:ln/>
        </p:spPr>
      </p:sp>
      <p:sp>
        <p:nvSpPr>
          <p:cNvPr id="28" name="Text 26"/>
          <p:cNvSpPr/>
          <p:nvPr/>
        </p:nvSpPr>
        <p:spPr>
          <a:xfrm>
            <a:off x="1143000" y="30815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Master table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749040" y="30815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respiratory_master_dataset.csv — 13,137 clean cycles from 79 subjects.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4360" y="3657600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703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43000" y="3611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Technical labels + ML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49040" y="3611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abnormality score to Correct/Wrong; trained hybrid models; saved deployable bundle.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SOURCE — PHYSIONET RESPIRATORY DATASET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recorded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05156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69748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retained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13,137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84632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breathing cycles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105156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1188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95160" y="1737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channels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Channels used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288036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E6F4F5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[L/s]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88036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E6F4F5"/>
          </a:solidFill>
          <a:ln/>
        </p:spPr>
      </p:sp>
      <p:sp>
        <p:nvSpPr>
          <p:cNvPr id="21" name="Text 19"/>
          <p:cNvSpPr/>
          <p:nvPr/>
        </p:nvSpPr>
        <p:spPr>
          <a:xfrm>
            <a:off x="219456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[cmH2O]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0" y="288036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E6F4F5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Tidal volume [L]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0" y="288036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E6F4F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belt [mm]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32320" y="2880360"/>
            <a:ext cx="1554480" cy="411480"/>
          </a:xfrm>
          <a:prstGeom prst="roundRect">
            <a:avLst>
              <a:gd name="adj" fmla="val 11111"/>
            </a:avLst>
          </a:prstGeom>
          <a:solidFill>
            <a:srgbClr val="E6F4F5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2926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Abdomen belt [mm]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groups (Trial Classification): Normal / Asthmatic / Smoker / Vaper x Male / Female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3977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source: physionet.org/content/respiratory-dataset/1.0.0/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DATASET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280160"/>
            <a:ext cx="1353312" cy="21945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1353312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5331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3192" y="196596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Raw signals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2514600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per-subject CSVs with inspiratory markers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64792" y="1280160"/>
            <a:ext cx="1353312" cy="21945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764792" y="1280160"/>
            <a:ext cx="1353312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1764792" y="135331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37944" y="196596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Cycle cut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37944" y="2514600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between consecutive inspiratory indices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9544" y="1280160"/>
            <a:ext cx="1353312" cy="21945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9544" y="1280160"/>
            <a:ext cx="1353312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3209544" y="135331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82696" y="196596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82696" y="2514600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Peak, min, mean, range, std for flow and pressure; volume; belts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54296" y="1280160"/>
            <a:ext cx="1353312" cy="21945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54296" y="1280160"/>
            <a:ext cx="1353312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4654296" y="135331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27448" y="196596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QC filter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27448" y="2514600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duration &lt;1s or &gt;10s; near-zero flow/pressure; dead belts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99048" y="1280160"/>
            <a:ext cx="1353312" cy="21945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99048" y="1280160"/>
            <a:ext cx="1353312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6099048" y="135331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72200" y="196596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Merge meta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72200" y="2514600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Trial Classification from subject-info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543800" y="1280160"/>
            <a:ext cx="1353312" cy="21945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43800" y="1280160"/>
            <a:ext cx="1353312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7543800" y="1353312"/>
            <a:ext cx="1353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616952" y="196596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Label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616952" y="2514600"/>
            <a:ext cx="1207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abnormality score to Correct / Wrong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Smart_Inhalo_Master_Dataset.csv  (26 columns, ready for ML)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CYCLE-LEVEL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97280"/>
            <a:ext cx="1645920" cy="2560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16459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704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Timing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737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Cycle_Duration_s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03120" y="1097280"/>
            <a:ext cx="1645920" cy="2560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03120" y="1097280"/>
            <a:ext cx="16459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11704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12848" y="1737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Peak / Min / Mean Flow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12848" y="2148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Flow Range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12848" y="2560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Flow Std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0" y="1097280"/>
            <a:ext cx="1645920" cy="2560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0" y="1097280"/>
            <a:ext cx="16459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11704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Pressure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50208" y="1737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Peak / Min / Mean Pressure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50208" y="2148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Pressure Range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50208" y="25603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Pressure Std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77840" y="1097280"/>
            <a:ext cx="1645920" cy="2560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77840" y="1097280"/>
            <a:ext cx="16459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11704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Volume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87568" y="1737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Max Tidal Volume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87568" y="2148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Mean Tidal Volume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0" y="1097280"/>
            <a:ext cx="1645920" cy="25603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0" y="1097280"/>
            <a:ext cx="16459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0" y="11704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24928" y="17373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Chest Range (mm)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424928" y="2148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Abdomen Range (mm)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QUALITY CONTROL RULES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are removed if they are physiologically implausible.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91440" cy="54864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53619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Duration &lt; 1 s  or  &gt; 10 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75564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short or too long to be a normal breath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103120"/>
            <a:ext cx="91440" cy="54864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1762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Flow range &lt; 0.5 L/s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39572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Near-flat flow suggests sensor or segmentation error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743200"/>
            <a:ext cx="91440" cy="54864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81635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Pressure range &lt; 0.5 cmH2O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03580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pressure swing for a real cycle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383280"/>
            <a:ext cx="91440" cy="54864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45643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Chest range = 0  AND  Abd range = 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367588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belt sensors failed or disconnected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TECHNICAL CORRECT / WRONG LABELS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clinician-scored inhaler labels exist in this dataset.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 a transparent technical proxy from signal statistics.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459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Select 6 features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Duration, Flow range, Pressure range, Max tidal volume, Chest range, Abd range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19456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2402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194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IQR band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25th-75th percentile = normal reference range for each feature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278892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8346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788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Flag abnormal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66160" y="2788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outside the band becomes Abnormal = 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3383280"/>
            <a:ext cx="411480" cy="4114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4290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Score and label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66160" y="3383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Abnormal_Features &gt;= 2 then Wrong, else Correct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LABEL DISTRIBUTION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1D7A4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CORRECT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~2,224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 ·  ~17%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37760" y="118872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B03A2E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WRONG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2011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~10,913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937760" y="28346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 ·  ~83%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is expected. Models use class_weight="balanced". Evaluation focuses on minority Correct and on Wrong detection.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HYBRID MODELING APPROACH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train / test split (GroupShuffleSplit, 80/20)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subject appears in both sets — the model must generalize across people, not memorize individuals.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011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28800"/>
            <a:ext cx="2011680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48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Logistic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1828800"/>
            <a:ext cx="2011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828800"/>
            <a:ext cx="2011680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2148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Random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Forest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scaling needed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828800"/>
            <a:ext cx="2011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828800"/>
            <a:ext cx="2011680" cy="1097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148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SVM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(RBF)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kernel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03720" y="1828800"/>
            <a:ext cx="2011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828800"/>
            <a:ext cx="2011680" cy="1097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6995160" y="2148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MLP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(Deep Learning)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 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features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LEAKAGE SAFEGUARDS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51560"/>
            <a:ext cx="8046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91440" cy="502920"/>
          </a:xfrm>
          <a:prstGeom prst="rect">
            <a:avLst/>
          </a:prstGeom>
          <a:solidFill>
            <a:srgbClr val="1D7A4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09728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Subject-level split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30759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test subjects are completely disjoint.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8046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645920"/>
            <a:ext cx="91440" cy="502920"/>
          </a:xfrm>
          <a:prstGeom prst="rect">
            <a:avLst/>
          </a:prstGeom>
          <a:solidFill>
            <a:srgbClr val="1D7A4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69164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Label columns excluded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90195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abnormality flags and Abnormal_Features never enter the model.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240280"/>
            <a:ext cx="8046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240280"/>
            <a:ext cx="91440" cy="502920"/>
          </a:xfrm>
          <a:prstGeom prst="rect">
            <a:avLst/>
          </a:prstGeom>
          <a:solidFill>
            <a:srgbClr val="1D7A4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28600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Clean input features only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249631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sees flow / pressure / volume / belt statistics — not the label recipe.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8046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834640"/>
            <a:ext cx="91440" cy="502920"/>
          </a:xfrm>
          <a:prstGeom prst="rect">
            <a:avLst/>
          </a:prstGeom>
          <a:solidFill>
            <a:srgbClr val="1D7A4E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28803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Scaler fit on train only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09067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is fit on training data; test is transformed only.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429000"/>
            <a:ext cx="8046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429000"/>
            <a:ext cx="91440" cy="502920"/>
          </a:xfrm>
          <a:prstGeom prst="rect">
            <a:avLst/>
          </a:prstGeom>
          <a:solidFill>
            <a:srgbClr val="1D7A4E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47472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Inference bundle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3685032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scaler + feature order + needs_scaling saved together for deployment.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EXAMPLE MODEL RESULTS (SUBJECT SPLIT)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25603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61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128016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2618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Accuracy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13716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2618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Precision*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1188720"/>
            <a:ext cx="128016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12618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Recall*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223760" y="1188720"/>
            <a:ext cx="118872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12618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F1*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1645920"/>
            <a:ext cx="25603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91840" y="1645920"/>
            <a:ext cx="12801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737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1645920"/>
            <a:ext cx="1371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0" y="1645920"/>
            <a:ext cx="12801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17373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23760" y="1645920"/>
            <a:ext cx="1188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17373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2148840"/>
            <a:ext cx="2560320" cy="50292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240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91840" y="2148840"/>
            <a:ext cx="1280160" cy="50292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2240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0" y="2148840"/>
            <a:ext cx="1371600" cy="50292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2240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43600" y="2148840"/>
            <a:ext cx="1280160" cy="50292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0" y="22402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23760" y="2148840"/>
            <a:ext cx="1188720" cy="50292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4" name="Text 32"/>
          <p:cNvSpPr/>
          <p:nvPr/>
        </p:nvSpPr>
        <p:spPr>
          <a:xfrm>
            <a:off x="7223760" y="2240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31520" y="2651760"/>
            <a:ext cx="25603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2743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291840" y="2651760"/>
            <a:ext cx="12801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3291840" y="2743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572000" y="2651760"/>
            <a:ext cx="1371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0" y="2743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943600" y="2651760"/>
            <a:ext cx="128016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0" y="2743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223760" y="2651760"/>
            <a:ext cx="11887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7223760" y="2743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8640" y="3383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Precision / Recall / F1 for the Correct class in one experimental run.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often leads on tabular cycle features; ranking can vary with seed and feature set.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8640" y="40233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is packaged with scaler + feature order into smart_inhalo_model.pkl for the app.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WHAT WE DELIVERED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51560"/>
            <a:ext cx="8046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1430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09728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Smart_Inhalo_Master_Dataset.csv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30759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13,137 cycles x 26 columns with Technique_Label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645920"/>
            <a:ext cx="8046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17373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169164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Dataset pipeline notebook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190195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extraction, QC, labeling — presentation-ready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240280"/>
            <a:ext cx="8046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2331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22860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Hybrid ML + DL notebook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249631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split, 4 models, metrics, ROC/PR, confusion matrices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8046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29260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288036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smart_inhalo_model.pkl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09067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bundle: model + scaler + feature list + label map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429000"/>
            <a:ext cx="80467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3520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34440" y="347472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Predict API pattern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685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Single-cycle prediction function ready for mobile / web app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LIMITATIONS &amp; NEXT STEPS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4023360" cy="457200"/>
          </a:xfrm>
          <a:prstGeom prst="rect">
            <a:avLst/>
          </a:prstGeom>
          <a:solidFill>
            <a:srgbClr val="B03A2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155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Labels are a technical proxy, not clinician-scored inhaler technique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2402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Data are general respiratory signals, not inhaler-use events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7889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Class imbalance is strong (~17% Correct)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3375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Tabular features only — no raw waveform CNN yet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05156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51560"/>
            <a:ext cx="4023360" cy="457200"/>
          </a:xfrm>
          <a:prstGeom prst="rect">
            <a:avLst/>
          </a:prstGeom>
          <a:solidFill>
            <a:srgbClr val="1D7A4E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11556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169164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Train on real inhaler audio (ICBHI / RDA actuation datasets)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2402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Add 1-D CNN / LSTM on raw waveforms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27889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Collect labeled Smart Inhalo device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333756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Ship mobile app using the .pkl inference bundle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109728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005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Real signals, clean cycles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0" y="1005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13k+ breathing cycles from 79 PhysioNet subjects after strict QC.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600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Transparent labels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0" y="1600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IQR-based Correct / Wrong proxy — fully documented and leakage-aware.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2194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Subject-safe modeling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97680" y="2194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split + excluded label columns + train-only scaler.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2788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Hybrid models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97680" y="2788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ML and MLP compared; best model saved for deployment.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3832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4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Path to product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97680" y="3383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pattern applies when real inhaler audio labels arrive.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Inhalo  ·  Hybrid ML + DL Breathing Technique Classification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PhysioNet Respiratory Dataset  ·  Subject-safe pipeline  ·  Deployable model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Inhalo — Hybrid ML + DL Breathing Technique Classification</dc:title>
  <dc:subject>PptxGenJS Presentation</dc:subject>
  <dc:creator>Smart Inhalo Project</dc:creator>
  <cp:lastModifiedBy>Smart Inhalo Project</cp:lastModifiedBy>
  <cp:revision>1</cp:revision>
  <dcterms:created xsi:type="dcterms:W3CDTF">2026-08-20T10:22:36Z</dcterms:created>
  <dcterms:modified xsi:type="dcterms:W3CDTF">2026-08-20T10:22:36Z</dcterms:modified>
</cp:coreProperties>
</file>